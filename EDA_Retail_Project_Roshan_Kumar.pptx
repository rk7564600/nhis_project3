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e55fb0-933b-4eac-6b85-9ae1fedf17a8}">
          <p14:sldIdLst>
            <p14:sldId id="256"/>
            <p14:sldId id="257"/>
          </p14:sldIdLst>
        </p14:section>
        <p14:section name="Univariate analysis" id="{865bea36-6fe7-b112-31eb-ecc0126c7bf8}">
          <p14:sldIdLst>
            <p14:sldId id="258"/>
            <p14:sldId id="259"/>
            <p14:sldId id="260"/>
          </p14:sldIdLst>
        </p14:section>
        <p14:section name="Outlier detection" id="{f72441c5-4700-4c85-3208-3275c43cb28d}">
          <p14:sldIdLst>
            <p14:sldId id="261"/>
          </p14:sldIdLst>
        </p14:section>
        <p14:section name="Bivariate analysis" id="{8ce081ab-bda8-e4c4-6e08-39cfa2e13cee}">
          <p14:sldIdLst>
            <p14:sldId id="262"/>
            <p14:sldId id="263"/>
          </p14:sldIdLst>
        </p14:section>
        <p14:section name="Correlation" id="{ac7a9092-be0b-65ed-7d6c-0574224ae620}">
          <p14:sldIdLst>
            <p14:sldId id="264"/>
          </p14:sldIdLst>
        </p14:section>
        <p14:section name="Multivariate analysis" id="{dfd7445a-3da7-30e4-8aec-592d5c05eedc}">
          <p14:sldIdLst>
            <p14:sldId id="265"/>
            <p14:sldId id="266"/>
          </p14:sldIdLst>
        </p14:section>
        <p14:section name="Distribution shape" id="{1b36c2fd-2b44-ca08-e602-7d0b87c72ae6}">
          <p14:sldIdLst>
            <p14:sldId id="267"/>
          </p14:sldIdLst>
        </p14:section>
        <p14:section name="Findings" id="{b400be5f-bf52-fb1c-8e91-8847cc506924}">
          <p14:sldIdLst>
            <p14:sldId id="268"/>
            <p14:sldId id="269"/>
          </p14:sldIdLst>
        </p14:section>
        <p14:section name="Conclusion" id="{75a44815-60f8-89cc-c03c-590ec424b85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1E6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B1E6E"/>
                </a:solidFill>
                <a:latin typeface="+mn-lt"/>
              </a:rPr>
              <a:t>final_price: right-skewed (orders per range)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FF4D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0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0–20k</c:v>
                  </c:pt>
                  <c:pt idx="1">
                    <c:v>20–40k</c:v>
                  </c:pt>
                  <c:pt idx="2">
                    <c:v>40–60k</c:v>
                  </c:pt>
                  <c:pt idx="3">
                    <c:v>60–80k</c:v>
                  </c:pt>
                  <c:pt idx="4">
                    <c:v>80–100k</c:v>
                  </c:pt>
                  <c:pt idx="5">
                    <c:v>100–120k</c:v>
                  </c:pt>
                  <c:pt idx="6">
                    <c:v>120–140k</c:v>
                  </c:pt>
                  <c:pt idx="7">
                    <c:v>140–160k</c:v>
                  </c:pt>
                  <c:pt idx="8">
                    <c:v>160–180k</c:v>
                  </c:pt>
                  <c:pt idx="9">
                    <c:v>180–200k</c:v>
                  </c:pt>
                  <c:pt idx="10">
                    <c:v>200–220k</c:v>
                  </c:pt>
                  <c:pt idx="11">
                    <c:v>220–240k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20076</c:v>
                </c:pt>
                <c:pt idx="1">
                  <c:v>20795</c:v>
                </c:pt>
                <c:pt idx="2">
                  <c:v>16150</c:v>
                </c:pt>
                <c:pt idx="3">
                  <c:v>10864</c:v>
                </c:pt>
                <c:pt idx="4">
                  <c:v>9646</c:v>
                </c:pt>
                <c:pt idx="5">
                  <c:v>7019</c:v>
                </c:pt>
                <c:pt idx="6">
                  <c:v>5448</c:v>
                </c:pt>
                <c:pt idx="7">
                  <c:v>4162</c:v>
                </c:pt>
                <c:pt idx="8">
                  <c:v>3002</c:v>
                </c:pt>
                <c:pt idx="9">
                  <c:v>1632</c:v>
                </c:pt>
                <c:pt idx="10">
                  <c:v>888</c:v>
                </c:pt>
                <c:pt idx="11">
                  <c:v>318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0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DDF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1E6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B1E6E"/>
                </a:solidFill>
                <a:latin typeface="+mn-lt"/>
              </a:rPr>
              <a:t>discount_percentage: uniform 0–30% (orders)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0B8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0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Sheet1!$A$2:$A$32</c:f>
              <c:multiLvlStrCache>
                <c:ptCount val="3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3300</c:v>
                </c:pt>
                <c:pt idx="1">
                  <c:v>3246</c:v>
                </c:pt>
                <c:pt idx="2">
                  <c:v>3135</c:v>
                </c:pt>
                <c:pt idx="3">
                  <c:v>3360</c:v>
                </c:pt>
                <c:pt idx="4">
                  <c:v>3157</c:v>
                </c:pt>
                <c:pt idx="5">
                  <c:v>3166</c:v>
                </c:pt>
                <c:pt idx="6">
                  <c:v>3224</c:v>
                </c:pt>
                <c:pt idx="7">
                  <c:v>3256</c:v>
                </c:pt>
                <c:pt idx="8">
                  <c:v>3133</c:v>
                </c:pt>
                <c:pt idx="9">
                  <c:v>3234</c:v>
                </c:pt>
                <c:pt idx="10">
                  <c:v>3216</c:v>
                </c:pt>
                <c:pt idx="11">
                  <c:v>3143</c:v>
                </c:pt>
                <c:pt idx="12">
                  <c:v>3235</c:v>
                </c:pt>
                <c:pt idx="13">
                  <c:v>3198</c:v>
                </c:pt>
                <c:pt idx="14">
                  <c:v>3287</c:v>
                </c:pt>
                <c:pt idx="15">
                  <c:v>3288</c:v>
                </c:pt>
                <c:pt idx="16">
                  <c:v>3158</c:v>
                </c:pt>
                <c:pt idx="17">
                  <c:v>3210</c:v>
                </c:pt>
                <c:pt idx="18">
                  <c:v>3262</c:v>
                </c:pt>
                <c:pt idx="19">
                  <c:v>3299</c:v>
                </c:pt>
                <c:pt idx="20">
                  <c:v>3204</c:v>
                </c:pt>
                <c:pt idx="21">
                  <c:v>3208</c:v>
                </c:pt>
                <c:pt idx="22">
                  <c:v>3275</c:v>
                </c:pt>
                <c:pt idx="23">
                  <c:v>3223</c:v>
                </c:pt>
                <c:pt idx="24">
                  <c:v>3121</c:v>
                </c:pt>
                <c:pt idx="25">
                  <c:v>3303</c:v>
                </c:pt>
                <c:pt idx="26">
                  <c:v>3243</c:v>
                </c:pt>
                <c:pt idx="27">
                  <c:v>3166</c:v>
                </c:pt>
                <c:pt idx="28">
                  <c:v>3251</c:v>
                </c:pt>
                <c:pt idx="29">
                  <c:v>3235</c:v>
                </c:pt>
                <c:pt idx="30">
                  <c:v>3264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0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DDF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1E6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B1E6E"/>
                </a:solidFill>
                <a:latin typeface="+mn-lt"/>
              </a:rPr>
              <a:t>product_category: six balanced groups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0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Health</c:v>
                  </c:pt>
                  <c:pt idx="1">
                    <c:v>Home &amp; Kitchen</c:v>
                  </c:pt>
                  <c:pt idx="2">
                    <c:v>Fashion</c:v>
                  </c:pt>
                  <c:pt idx="3">
                    <c:v>Grocery</c:v>
                  </c:pt>
                  <c:pt idx="4">
                    <c:v>Electronics</c:v>
                  </c:pt>
                  <c:pt idx="5">
                    <c:v>Beauty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16858</c:v>
                </c:pt>
                <c:pt idx="1">
                  <c:v>16848</c:v>
                </c:pt>
                <c:pt idx="2">
                  <c:v>16613</c:v>
                </c:pt>
                <c:pt idx="3">
                  <c:v>16592</c:v>
                </c:pt>
                <c:pt idx="4">
                  <c:v>16576</c:v>
                </c:pt>
                <c:pt idx="5">
                  <c:v>16513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0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DDF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1E6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B1E6E"/>
                </a:solidFill>
                <a:latin typeface="+mn-lt"/>
              </a:rPr>
              <a:t>customer_segment: ~33% each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bubble3D val="0"/>
            <c:spPr>
              <a:solidFill>
                <a:srgbClr val="FF4D8D"/>
              </a:solidFill>
              <a:effectLst/>
            </c:spPr>
          </c:dPt>
          <c:dPt>
            <c:idx val="2"/>
            <c:bubble3D val="0"/>
            <c:spPr>
              <a:solidFill>
                <a:srgbClr val="00B8A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New</c:v>
                </c:pt>
                <c:pt idx="1">
                  <c:v>Regular</c:v>
                </c:pt>
                <c:pt idx="2">
                  <c:v>Premium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33488</c:v>
                </c:pt>
                <c:pt idx="1">
                  <c:v>33361</c:v>
                </c:pt>
                <c:pt idx="2">
                  <c:v>33151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B10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1E6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B1E6E"/>
                </a:solidFill>
                <a:latin typeface="+mn-lt"/>
              </a:rPr>
              <a:t>payment_method: nearly equal (24.6–25.3%)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FF7A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0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Credit Card</c:v>
                  </c:pt>
                  <c:pt idx="1">
                    <c:v>UPI</c:v>
                  </c:pt>
                  <c:pt idx="2">
                    <c:v>Cash on Delivery</c:v>
                  </c:pt>
                  <c:pt idx="3">
                    <c:v>Debit Card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25307</c:v>
                </c:pt>
                <c:pt idx="1">
                  <c:v>25139</c:v>
                </c:pt>
                <c:pt idx="2">
                  <c:v>24994</c:v>
                </c:pt>
                <c:pt idx="3">
                  <c:v>24560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0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DDF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1E6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B1E6E"/>
                </a:solidFill>
                <a:latin typeface="+mn-lt"/>
              </a:rPr>
              <a:t>return_status: 14.8% returned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8A9"/>
              </a:solidFill>
              <a:effectLst/>
            </c:spPr>
          </c:dPt>
          <c:dPt>
            <c:idx val="1"/>
            <c:bubble3D val="0"/>
            <c:spPr>
              <a:solidFill>
                <a:srgbClr val="FF4D8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B1033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B1033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 (returned)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85189</c:v>
                </c:pt>
                <c:pt idx="1">
                  <c:v>14811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B10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1E6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B1E6E"/>
                </a:solidFill>
                <a:latin typeface="+mn-lt"/>
              </a:rPr>
              <a:t>Pearson correlation with final_price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0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4D8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9CD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B70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product_price</c:v>
                  </c:pt>
                  <c:pt idx="1">
                    <c:v>quantity</c:v>
                  </c:pt>
                  <c:pt idx="2">
                    <c:v>discount %</c:v>
                  </c:pt>
                  <c:pt idx="3">
                    <c:v>age</c:v>
                  </c:pt>
                  <c:pt idx="4">
                    <c:v>delivery_days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0.731</c:v>
                </c:pt>
                <c:pt idx="1">
                  <c:v>0.575</c:v>
                </c:pt>
                <c:pt idx="2">
                  <c:v>-0.137</c:v>
                </c:pt>
                <c:pt idx="3">
                  <c:v>-0.001</c:v>
                </c:pt>
                <c:pt idx="4">
                  <c:v>0.004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10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4"/>
        </c:scaling>
        <c:delete val="0"/>
        <c:axPos val="b"/>
        <c:majorGridlines>
          <c:spPr>
            <a:ln w="6350" cap="flat">
              <a:solidFill>
                <a:srgbClr val="E5DDF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1E6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B1E6E"/>
                </a:solidFill>
                <a:latin typeface="+mn-lt"/>
              </a:rPr>
              <a:t>Avg final_price by segment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final_price by segment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0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4D8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New</c:v>
                  </c:pt>
                  <c:pt idx="1">
                    <c:v>Premium</c:v>
                  </c:pt>
                  <c:pt idx="2">
                    <c:v>Regular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63767</c:v>
                </c:pt>
                <c:pt idx="1">
                  <c:v>64430</c:v>
                </c:pt>
                <c:pt idx="2">
                  <c:v>64303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0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DDF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1E6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B1E6E"/>
                </a:solidFill>
                <a:latin typeface="+mn-lt"/>
              </a:rPr>
              <a:t>Return rate %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 % by category</c:v>
                </c:pt>
              </c:strCache>
            </c:strRef>
          </c:tx>
          <c:spPr>
            <a:solidFill>
              <a:srgbClr val="FF7A4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0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Fashion</c:v>
                  </c:pt>
                  <c:pt idx="1">
                    <c:v>Home &amp; Kitchen</c:v>
                  </c:pt>
                  <c:pt idx="2">
                    <c:v>Grocery</c:v>
                  </c:pt>
                  <c:pt idx="3">
                    <c:v>Health</c:v>
                  </c:pt>
                  <c:pt idx="4">
                    <c:v>Beauty</c:v>
                  </c:pt>
                  <c:pt idx="5">
                    <c:v>Electronics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15.05</c:v>
                </c:pt>
                <c:pt idx="1">
                  <c:v>14.89</c:v>
                </c:pt>
                <c:pt idx="2">
                  <c:v>14.87</c:v>
                </c:pt>
                <c:pt idx="3">
                  <c:v>14.83</c:v>
                </c:pt>
                <c:pt idx="4">
                  <c:v>14.76</c:v>
                </c:pt>
                <c:pt idx="5">
                  <c:v>14.47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10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DDF5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1E6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B1E6E"/>
                </a:solidFill>
                <a:latin typeface="+mn-lt"/>
              </a:rPr>
              <a:t>Avg delivery days by shipping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delivery days by shipping</c:v>
                </c:pt>
              </c:strCache>
            </c:strRef>
          </c:tx>
          <c:spPr>
            <a:solidFill>
              <a:srgbClr val="2D9CD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0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9C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B70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Express</c:v>
                  </c:pt>
                  <c:pt idx="1">
                    <c:v>Standard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5.5</c:v>
                </c:pt>
                <c:pt idx="1">
                  <c:v>5.51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10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DDF5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1E6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B1E6E"/>
                </a:solidFill>
                <a:latin typeface="+mn-lt"/>
              </a:rPr>
              <a:t>Total revenue by discount band (billions)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(billions)</c:v>
                </c:pt>
              </c:strCache>
            </c:strRef>
          </c:tx>
          <c:spPr>
            <a:solidFill>
              <a:srgbClr val="00B8A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0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4D8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 0–10%</c:v>
                  </c:pt>
                  <c:pt idx="1">
                    <c:v>Moderate 11–20%</c:v>
                  </c:pt>
                  <c:pt idx="2">
                    <c:v>High 21–30%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2.55</c:v>
                </c:pt>
                <c:pt idx="1">
                  <c:v>2.06</c:v>
                </c:pt>
                <c:pt idx="2">
                  <c:v>1.81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10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DDF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1E6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B1E6E"/>
                </a:solidFill>
                <a:latin typeface="+mn-lt"/>
              </a:rPr>
              <a:t>Skewness and excess kurtosis by variable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Skewness</c:v>
                </c:pt>
              </c:strCache>
            </c:strRef>
          </c:tx>
          <c:spPr>
            <a:solidFill>
              <a:srgbClr val="FF4D8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0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age</c:v>
                  </c:pt>
                  <c:pt idx="1">
                    <c:v>price</c:v>
                  </c:pt>
                  <c:pt idx="2">
                    <c:v>quantity</c:v>
                  </c:pt>
                  <c:pt idx="3">
                    <c:v>discount</c:v>
                  </c:pt>
                  <c:pt idx="4">
                    <c:v>final_price</c:v>
                  </c:pt>
                  <c:pt idx="5">
                    <c:v>delivery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0.93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Excess kurtosis</c:v>
                </c:pt>
              </c:strCache>
            </c:strRef>
          </c:tx>
          <c:spPr>
            <a:solidFill>
              <a:srgbClr val="00B8A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0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age</c:v>
                  </c:pt>
                  <c:pt idx="1">
                    <c:v>price</c:v>
                  </c:pt>
                  <c:pt idx="2">
                    <c:v>quantity</c:v>
                  </c:pt>
                  <c:pt idx="3">
                    <c:v>discount</c:v>
                  </c:pt>
                  <c:pt idx="4">
                    <c:v>final_price</c:v>
                  </c:pt>
                  <c:pt idx="5">
                    <c:v>delivery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-1.2</c:v>
                </c:pt>
                <c:pt idx="1">
                  <c:v>-1.2</c:v>
                </c:pt>
                <c:pt idx="2">
                  <c:v>-1.36</c:v>
                </c:pt>
                <c:pt idx="3">
                  <c:v>-1.2</c:v>
                </c:pt>
                <c:pt idx="4">
                  <c:v>0.17</c:v>
                </c:pt>
                <c:pt idx="5">
                  <c:v>-1.22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10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  <c:min val="-1.5"/>
        </c:scaling>
        <c:delete val="0"/>
        <c:axPos val="l"/>
        <c:majorGridlines>
          <c:spPr>
            <a:ln w="6350" cap="flat">
              <a:solidFill>
                <a:srgbClr val="E5DDF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0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0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Project: EDA of large-scale retail transaction data (100,000 rows, 18 columns). Presented by Roshan Kumar, NextHikes IT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6692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NextHikes IT Solutions  |  EDA of Large-Scale Retail Transaction Data  |  Roshan Kumar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chart" Target="/ppt/charts/chart6.xm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ords circle"/>
          <p:cNvSpPr/>
          <p:nvPr/>
        </p:nvSpPr>
        <p:spPr>
          <a:xfrm>
            <a:off x="6400800" y="411480"/>
            <a:ext cx="2286000" cy="22860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Variables circle"/>
          <p:cNvSpPr/>
          <p:nvPr/>
        </p:nvSpPr>
        <p:spPr>
          <a:xfrm>
            <a:off x="6903720" y="2788920"/>
            <a:ext cx="1783080" cy="1783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Accent circle"/>
          <p:cNvSpPr/>
          <p:nvPr/>
        </p:nvSpPr>
        <p:spPr>
          <a:xfrm>
            <a:off x="5806440" y="33832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Small circle"/>
          <p:cNvSpPr/>
          <p:nvPr/>
        </p:nvSpPr>
        <p:spPr>
          <a:xfrm>
            <a:off x="5760720" y="2788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4114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100,000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records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278892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18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variables</a:t>
            </a:r>
            <a:endParaRPr lang="en-US" sz="14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548640" y="91440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Exploratory Data Analysis of Large-Scale Retail Transaction Data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43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Using Univariate, Bivariate, and Multivariate Statistical Techniques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118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Presented by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Roshan Kumar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NextHikes IT Solutions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Project Objectives and Dataset</a:t>
            </a:r>
            <a:endParaRPr lang="en-US" sz="3000" dirty="0"/>
          </a:p>
        </p:txBody>
      </p:sp>
      <p:sp>
        <p:nvSpPr>
          <p:cNvPr id="3" name="Objective 1 circle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Objectiv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314450"/>
            <a:ext cx="251460" cy="2514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188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Univariate, bivariate and multivariate analysis</a:t>
            </a:r>
            <a:endParaRPr lang="en-US" sz="1600" dirty="0"/>
          </a:p>
        </p:txBody>
      </p:sp>
      <p:sp>
        <p:nvSpPr>
          <p:cNvPr id="6" name="Objective 2 circle"/>
          <p:cNvSpPr/>
          <p:nvPr/>
        </p:nvSpPr>
        <p:spPr>
          <a:xfrm>
            <a:off x="457200" y="189280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 1" descr="Objectiv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018538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18928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Detect and interpret outliers</a:t>
            </a:r>
            <a:endParaRPr lang="en-US" sz="1600" dirty="0"/>
          </a:p>
        </p:txBody>
      </p:sp>
      <p:sp>
        <p:nvSpPr>
          <p:cNvPr id="9" name="Objective 3 circle"/>
          <p:cNvSpPr/>
          <p:nvPr/>
        </p:nvSpPr>
        <p:spPr>
          <a:xfrm>
            <a:off x="457200" y="2596896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2" descr="Objectiv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2722626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25968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Measure correlation between numerical variables</a:t>
            </a:r>
            <a:endParaRPr lang="en-US" sz="1600" dirty="0"/>
          </a:p>
        </p:txBody>
      </p:sp>
      <p:sp>
        <p:nvSpPr>
          <p:cNvPr id="12" name="Objective 4 circle"/>
          <p:cNvSpPr/>
          <p:nvPr/>
        </p:nvSpPr>
        <p:spPr>
          <a:xfrm>
            <a:off x="457200" y="3300984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3" name="Image 3" descr="Objectiv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3426714"/>
            <a:ext cx="251460" cy="2514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330098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Analyze skewness and kurtosis</a:t>
            </a:r>
            <a:endParaRPr lang="en-US" sz="1600" dirty="0"/>
          </a:p>
        </p:txBody>
      </p:sp>
      <p:sp>
        <p:nvSpPr>
          <p:cNvPr id="15" name="Objective 5 circle"/>
          <p:cNvSpPr/>
          <p:nvPr/>
        </p:nvSpPr>
        <p:spPr>
          <a:xfrm>
            <a:off x="457200" y="4005072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mage 4" descr="Objective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" y="4130802"/>
            <a:ext cx="251460" cy="25146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43000" y="40050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Extract statistically meaningful business insights</a:t>
            </a:r>
            <a:endParaRPr lang="en-US" sz="1600" dirty="0"/>
          </a:p>
        </p:txBody>
      </p:sp>
      <p:sp>
        <p:nvSpPr>
          <p:cNvPr id="18" name="Stat card 1"/>
          <p:cNvSpPr/>
          <p:nvPr/>
        </p:nvSpPr>
        <p:spPr>
          <a:xfrm>
            <a:off x="5394960" y="1188720"/>
            <a:ext cx="1554480" cy="160020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5394960" y="11887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100,000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rows</a:t>
            </a:r>
            <a:endParaRPr lang="en-US" sz="1400" dirty="0"/>
          </a:p>
        </p:txBody>
      </p:sp>
      <p:sp>
        <p:nvSpPr>
          <p:cNvPr id="20" name="Stat card 2"/>
          <p:cNvSpPr/>
          <p:nvPr/>
        </p:nvSpPr>
        <p:spPr>
          <a:xfrm>
            <a:off x="7086600" y="1188720"/>
            <a:ext cx="1554480" cy="160020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086600" y="11887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18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columns</a:t>
            </a:r>
            <a:endParaRPr lang="en-US" sz="1400" dirty="0"/>
          </a:p>
        </p:txBody>
      </p:sp>
      <p:sp>
        <p:nvSpPr>
          <p:cNvPr id="22" name="Stat card 3"/>
          <p:cNvSpPr/>
          <p:nvPr/>
        </p:nvSpPr>
        <p:spPr>
          <a:xfrm>
            <a:off x="5394960" y="2971800"/>
            <a:ext cx="1554480" cy="1600200"/>
          </a:xfrm>
          <a:prstGeom prst="roundRect">
            <a:avLst>
              <a:gd name="adj" fmla="val 705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5394960" y="297180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missing values</a:t>
            </a:r>
            <a:endParaRPr lang="en-US" sz="1400" dirty="0"/>
          </a:p>
        </p:txBody>
      </p:sp>
      <p:sp>
        <p:nvSpPr>
          <p:cNvPr id="24" name="Stat card 4"/>
          <p:cNvSpPr/>
          <p:nvPr/>
        </p:nvSpPr>
        <p:spPr>
          <a:xfrm>
            <a:off x="7086600" y="2971800"/>
            <a:ext cx="1554480" cy="1600200"/>
          </a:xfrm>
          <a:prstGeom prst="roundRect">
            <a:avLst>
              <a:gd name="adj" fmla="val 705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086600" y="297180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2023–24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order dates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5394960" y="45720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Tools: NumPy, Pandas, Matplotlib, Seaborn, SciPy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Univariate Analysis: Numerical Variables</a:t>
            </a:r>
            <a:endParaRPr lang="en-US" sz="3000" dirty="0"/>
          </a:p>
        </p:txBody>
      </p:sp>
      <p:graphicFrame>
        <p:nvGraphicFramePr>
          <p:cNvPr id="4" name="Descriptive statist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914400"/>
                <a:gridCol w="914400"/>
                <a:gridCol w="822960"/>
                <a:gridCol w="91440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Median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Skewness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Kurtosis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41.6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42.0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13.9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65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-1.20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product_price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30,165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30,148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17,140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500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59,998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-1.20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quantity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2.5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3.0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1.1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-1.36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discount_percentage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15.0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15.0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9.0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-1.20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final_price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64,166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49,752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49,969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357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239,980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0.93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0.17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delivery_days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5.5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5.0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2.9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-1.22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</a:tr>
            </a:tbl>
          </a:graphicData>
        </a:graphic>
      </p:graphicFrame>
      <p:sp>
        <p:nvSpPr>
          <p:cNvPr id="4" name="Uniform-like card"/>
          <p:cNvSpPr/>
          <p:nvPr/>
        </p:nvSpPr>
        <p:spPr>
          <a:xfrm>
            <a:off x="457200" y="365760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73075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Uniform-like variables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age, price, quantity, discount, delivery: skew ≈ 0, kurtosis ≈ −1.2</a:t>
            </a:r>
            <a:endParaRPr lang="en-US" sz="1400" dirty="0"/>
          </a:p>
        </p:txBody>
      </p:sp>
      <p:sp>
        <p:nvSpPr>
          <p:cNvPr id="6" name="Skewed card"/>
          <p:cNvSpPr/>
          <p:nvPr/>
        </p:nvSpPr>
        <p:spPr>
          <a:xfrm>
            <a:off x="4663440" y="365760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FE3EE"/>
          </a:solidFill>
          <a:ln w="12700">
            <a:solidFill>
              <a:srgbClr val="FFE3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46320" y="373075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final_price is the skewed one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Skew +0.93; mean 64k &gt; median 50k; kurtosis only 0.17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Distribution Shapes</a:t>
            </a:r>
            <a:endParaRPr lang="en-US" sz="3000" dirty="0"/>
          </a:p>
        </p:txBody>
      </p:sp>
      <p:sp>
        <p:nvSpPr>
          <p:cNvPr id="3" name="Histogram card"/>
          <p:cNvSpPr/>
          <p:nvPr/>
        </p:nvSpPr>
        <p:spPr>
          <a:xfrm>
            <a:off x="457200" y="1097280"/>
            <a:ext cx="40233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3840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Discount card"/>
          <p:cNvSpPr/>
          <p:nvPr/>
        </p:nvSpPr>
        <p:spPr>
          <a:xfrm>
            <a:off x="4663440" y="1097280"/>
            <a:ext cx="40233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6" name="Chart 1" descr=""/>
          <p:cNvGraphicFramePr/>
          <p:nvPr/>
        </p:nvGraphicFramePr>
        <p:xfrm>
          <a:off x="4754880" y="1188720"/>
          <a:ext cx="3840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Univariate Analysis: Categorical Variables</a:t>
            </a:r>
            <a:endParaRPr lang="en-US" sz="3000" dirty="0"/>
          </a:p>
        </p:txBody>
      </p:sp>
      <p:sp>
        <p:nvSpPr>
          <p:cNvPr id="3" name="Categorical card 1"/>
          <p:cNvSpPr/>
          <p:nvPr/>
        </p:nvSpPr>
        <p:spPr>
          <a:xfrm>
            <a:off x="457200" y="105156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tegorical card 2"/>
          <p:cNvSpPr/>
          <p:nvPr/>
        </p:nvSpPr>
        <p:spPr>
          <a:xfrm>
            <a:off x="4663440" y="105156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tegorical card 3"/>
          <p:cNvSpPr/>
          <p:nvPr/>
        </p:nvSpPr>
        <p:spPr>
          <a:xfrm>
            <a:off x="457200" y="288036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tegorical card 4"/>
          <p:cNvSpPr/>
          <p:nvPr/>
        </p:nvSpPr>
        <p:spPr>
          <a:xfrm>
            <a:off x="4663440" y="288036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502920" y="1078992"/>
          <a:ext cx="3931920" cy="168249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709160" y="1078992"/>
          <a:ext cx="3931920" cy="168249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2" descr=""/>
          <p:cNvGraphicFramePr/>
          <p:nvPr/>
        </p:nvGraphicFramePr>
        <p:xfrm>
          <a:off x="502920" y="2907792"/>
          <a:ext cx="3931920" cy="168249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Chart 3" descr=""/>
          <p:cNvGraphicFramePr/>
          <p:nvPr/>
        </p:nvGraphicFramePr>
        <p:xfrm>
          <a:off x="4709160" y="2907792"/>
          <a:ext cx="3931920" cy="168249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Outlier Detection: Boxplot, IQR and Z-score</a:t>
            </a:r>
            <a:endParaRPr lang="en-US" sz="3000" dirty="0"/>
          </a:p>
        </p:txBody>
      </p:sp>
      <p:sp>
        <p:nvSpPr>
          <p:cNvPr id="3" name="Outlier stat 1"/>
          <p:cNvSpPr/>
          <p:nvPr/>
        </p:nvSpPr>
        <p:spPr>
          <a:xfrm>
            <a:off x="457200" y="1143000"/>
            <a:ext cx="384048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1,335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14300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orders flagged by IQR rule (1.3%)</a:t>
            </a:r>
            <a:endParaRPr lang="en-US" sz="1400" dirty="0"/>
          </a:p>
        </p:txBody>
      </p:sp>
      <p:sp>
        <p:nvSpPr>
          <p:cNvPr id="6" name="Outlier stat 2"/>
          <p:cNvSpPr/>
          <p:nvPr/>
        </p:nvSpPr>
        <p:spPr>
          <a:xfrm>
            <a:off x="457200" y="2331720"/>
            <a:ext cx="3840480" cy="1051560"/>
          </a:xfrm>
          <a:prstGeom prst="roundRect">
            <a:avLst>
              <a:gd name="adj" fmla="val 1043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317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503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33172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orders flagged by the Z-score method (0.5%)</a:t>
            </a:r>
            <a:endParaRPr lang="en-US" sz="1400" dirty="0"/>
          </a:p>
        </p:txBody>
      </p:sp>
      <p:sp>
        <p:nvSpPr>
          <p:cNvPr id="9" name="Outlier stat 3"/>
          <p:cNvSpPr/>
          <p:nvPr/>
        </p:nvSpPr>
        <p:spPr>
          <a:xfrm>
            <a:off x="457200" y="3520440"/>
            <a:ext cx="3840480" cy="1051560"/>
          </a:xfrm>
          <a:prstGeom prst="roundRect">
            <a:avLst>
              <a:gd name="adj" fmla="val 1043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52044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198k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5204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IQR upper fence for final_price</a:t>
            </a:r>
            <a:endParaRPr lang="en-US" sz="1400" dirty="0"/>
          </a:p>
        </p:txBody>
      </p:sp>
      <p:sp>
        <p:nvSpPr>
          <p:cNvPr id="12" name="Outlier insight card"/>
          <p:cNvSpPr/>
          <p:nvPr/>
        </p:nvSpPr>
        <p:spPr>
          <a:xfrm>
            <a:off x="4526280" y="1143000"/>
            <a:ext cx="416052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Who are the high final_price outliers?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17373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100% are 4-unit (bulk) orders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Avg product_price 56.2k vs 30.2k overall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Avg discount 5.7% vs 15.0% overall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final_price has statistical outliers; the rest are bounded ranges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20% of deliveries take 9–10 days (operational outliers)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Kept in the data: valid premium transactions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Bivariate: What Drives final_price?</a:t>
            </a:r>
            <a:endParaRPr lang="en-US" sz="3000" dirty="0"/>
          </a:p>
        </p:txBody>
      </p:sp>
      <p:sp>
        <p:nvSpPr>
          <p:cNvPr id="3" name="Correlation chart card"/>
          <p:cNvSpPr/>
          <p:nvPr/>
        </p:nvSpPr>
        <p:spPr>
          <a:xfrm>
            <a:off x="457200" y="1097280"/>
            <a:ext cx="484632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46634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elationship card 1"/>
          <p:cNvSpPr/>
          <p:nvPr/>
        </p:nvSpPr>
        <p:spPr>
          <a:xfrm>
            <a:off x="5486400" y="1097280"/>
            <a:ext cx="3200400" cy="804672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23560" y="1097280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Strong +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product_price  r = 0.73</a:t>
            </a:r>
            <a:endParaRPr lang="en-US" sz="1400" dirty="0"/>
          </a:p>
        </p:txBody>
      </p:sp>
      <p:sp>
        <p:nvSpPr>
          <p:cNvPr id="7" name="Relationship card 2"/>
          <p:cNvSpPr/>
          <p:nvPr/>
        </p:nvSpPr>
        <p:spPr>
          <a:xfrm>
            <a:off x="5486400" y="1993392"/>
            <a:ext cx="3200400" cy="804672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23560" y="1993392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Moderate +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quantity  r = 0.58</a:t>
            </a:r>
            <a:endParaRPr lang="en-US" sz="1400" dirty="0"/>
          </a:p>
        </p:txBody>
      </p:sp>
      <p:sp>
        <p:nvSpPr>
          <p:cNvPr id="9" name="Relationship card 3"/>
          <p:cNvSpPr/>
          <p:nvPr/>
        </p:nvSpPr>
        <p:spPr>
          <a:xfrm>
            <a:off x="5486400" y="2889504"/>
            <a:ext cx="3200400" cy="804672"/>
          </a:xfrm>
          <a:prstGeom prst="roundRect">
            <a:avLst>
              <a:gd name="adj" fmla="val 1363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23560" y="2889504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Weak −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discount %  r = −0.14</a:t>
            </a:r>
            <a:endParaRPr lang="en-US" sz="1400" dirty="0"/>
          </a:p>
        </p:txBody>
      </p:sp>
      <p:sp>
        <p:nvSpPr>
          <p:cNvPr id="11" name="Relationship card 4"/>
          <p:cNvSpPr/>
          <p:nvPr/>
        </p:nvSpPr>
        <p:spPr>
          <a:xfrm>
            <a:off x="5486400" y="3785616"/>
            <a:ext cx="3200400" cy="804672"/>
          </a:xfrm>
          <a:prstGeom prst="roundRect">
            <a:avLst>
              <a:gd name="adj" fmla="val 1363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23560" y="3785616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None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age  r ≈ 0.00;  delivery_days vs return  r = 0.001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Numerical vs Categorical Comparisons</a:t>
            </a:r>
            <a:endParaRPr lang="en-US" sz="3000" dirty="0"/>
          </a:p>
        </p:txBody>
      </p:sp>
      <p:sp>
        <p:nvSpPr>
          <p:cNvPr id="3" name="Comparison card 1"/>
          <p:cNvSpPr/>
          <p:nvPr/>
        </p:nvSpPr>
        <p:spPr>
          <a:xfrm>
            <a:off x="457200" y="1097280"/>
            <a:ext cx="2651760" cy="28803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02920" y="1143000"/>
          <a:ext cx="25603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69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ANOVA p = 0.19: no real difference</a:t>
            </a:r>
            <a:endParaRPr lang="en-US" sz="1400" dirty="0"/>
          </a:p>
        </p:txBody>
      </p:sp>
      <p:sp>
        <p:nvSpPr>
          <p:cNvPr id="6" name="Comparison card 2"/>
          <p:cNvSpPr/>
          <p:nvPr/>
        </p:nvSpPr>
        <p:spPr>
          <a:xfrm>
            <a:off x="3246120" y="1097280"/>
            <a:ext cx="2651760" cy="28803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7" name="Chart 1" descr=""/>
          <p:cNvGraphicFramePr/>
          <p:nvPr/>
        </p:nvGraphicFramePr>
        <p:xfrm>
          <a:off x="3291840" y="1143000"/>
          <a:ext cx="25603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3246120" y="4069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Chi-square p = 0.79: all ≈ 15%</a:t>
            </a:r>
            <a:endParaRPr lang="en-US" sz="1400" dirty="0"/>
          </a:p>
        </p:txBody>
      </p:sp>
      <p:sp>
        <p:nvSpPr>
          <p:cNvPr id="9" name="Comparison card 3"/>
          <p:cNvSpPr/>
          <p:nvPr/>
        </p:nvSpPr>
        <p:spPr>
          <a:xfrm>
            <a:off x="6035040" y="1097280"/>
            <a:ext cx="2651760" cy="2880360"/>
          </a:xfrm>
          <a:prstGeom prst="roundRect">
            <a:avLst>
              <a:gd name="adj" fmla="val 4138"/>
            </a:avLst>
          </a:prstGeom>
          <a:solidFill>
            <a:srgbClr val="FFE3EE"/>
          </a:solidFill>
          <a:ln w="12700">
            <a:solidFill>
              <a:srgbClr val="FFE3EE"/>
            </a:solidFill>
            <a:prstDash val="solid"/>
          </a:ln>
        </p:spPr>
      </p:sp>
      <p:graphicFrame>
        <p:nvGraphicFramePr>
          <p:cNvPr id="10" name="Chart 2" descr=""/>
          <p:cNvGraphicFramePr/>
          <p:nvPr/>
        </p:nvGraphicFramePr>
        <p:xfrm>
          <a:off x="6080760" y="1143000"/>
          <a:ext cx="25603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035040" y="4069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t-test p = 0.37: Express is not faster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Correlation Matrix (Pearson)</a:t>
            </a:r>
            <a:endParaRPr lang="en-US" sz="3000" dirty="0"/>
          </a:p>
        </p:txBody>
      </p:sp>
      <p:graphicFrame>
        <p:nvGraphicFramePr>
          <p:cNvPr id="10" name="Correlation heatma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394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66232"/>
                <a:gridCol w="666232"/>
                <a:gridCol w="666232"/>
                <a:gridCol w="666232"/>
                <a:gridCol w="666232"/>
                <a:gridCol w="666232"/>
                <a:gridCol w="6662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deliv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return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4E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4E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0.73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E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4E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0.58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4E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-0.14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0.73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E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0.58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-0.14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4E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deliv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4E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return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4EEF"/>
                    </a:solidFill>
                  </a:tcPr>
                </a:tc>
              </a:tr>
            </a:tbl>
          </a:graphicData>
        </a:graphic>
      </p:graphicFrame>
      <p:sp>
        <p:nvSpPr>
          <p:cNvPr id="4" name="VIF card"/>
          <p:cNvSpPr/>
          <p:nvPr/>
        </p:nvSpPr>
        <p:spPr>
          <a:xfrm>
            <a:off x="6035040" y="1143000"/>
            <a:ext cx="2651760" cy="1554480"/>
          </a:xfrm>
          <a:prstGeom prst="roundRect">
            <a:avLst>
              <a:gd name="adj" fmla="val 705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72200" y="11430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VIF ≈ 1.0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every predictor: no multicollinearity</a:t>
            </a:r>
            <a:endParaRPr lang="en-US" sz="1400" dirty="0"/>
          </a:p>
        </p:txBody>
      </p:sp>
      <p:sp>
        <p:nvSpPr>
          <p:cNvPr id="6" name="Heatmap insight card"/>
          <p:cNvSpPr/>
          <p:nvPr/>
        </p:nvSpPr>
        <p:spPr>
          <a:xfrm>
            <a:off x="6035040" y="2834640"/>
            <a:ext cx="26517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72200" y="292608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final_price links to price and quantity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Discount lowers final_price (−0.14)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delivery_days ≈ 0 with spending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Multivariate: Category × Discount × Revenue</a:t>
            </a:r>
            <a:endParaRPr lang="en-US" sz="3000" dirty="0"/>
          </a:p>
        </p:txBody>
      </p:sp>
      <p:sp>
        <p:nvSpPr>
          <p:cNvPr id="3" name="Revenue chart card"/>
          <p:cNvSpPr/>
          <p:nvPr/>
        </p:nvSpPr>
        <p:spPr>
          <a:xfrm>
            <a:off x="457200" y="1097280"/>
            <a:ext cx="4754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4572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est cell card"/>
          <p:cNvSpPr/>
          <p:nvPr/>
        </p:nvSpPr>
        <p:spPr>
          <a:xfrm>
            <a:off x="5394960" y="1097280"/>
            <a:ext cx="3291840" cy="1600200"/>
          </a:xfrm>
          <a:prstGeom prst="roundRect">
            <a:avLst>
              <a:gd name="adj" fmla="val 685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32120" y="109728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Top revenue cell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Home &amp; Kitchen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 low discounts: 435M</a:t>
            </a:r>
            <a:endParaRPr lang="en-US" sz="1400" dirty="0"/>
          </a:p>
        </p:txBody>
      </p:sp>
      <p:sp>
        <p:nvSpPr>
          <p:cNvPr id="7" name="Discount insight card"/>
          <p:cNvSpPr/>
          <p:nvPr/>
        </p:nvSpPr>
        <p:spPr>
          <a:xfrm>
            <a:off x="5394960" y="2834640"/>
            <a:ext cx="32918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32120" y="28803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Avg order value falls as discount rises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 band: 2.55B vs high band: 1.81B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category stands out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Multivariate: Segment, Age, Shipping, Returns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Avg final_price: segment × age group</a:t>
            </a:r>
            <a:endParaRPr lang="en-US" sz="1600" dirty="0"/>
          </a:p>
        </p:txBody>
      </p:sp>
      <p:graphicFrame>
        <p:nvGraphicFramePr>
          <p:cNvPr id="12" name="Segment by ag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18–29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30–45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46–65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3"/>
                          </a:solidFill>
                        </a:rPr>
                        <a:t>63,715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3"/>
                          </a:solidFill>
                        </a:rPr>
                        <a:t>64,033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E2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3"/>
                          </a:solidFill>
                        </a:rPr>
                        <a:t>63,586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Premium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3"/>
                          </a:solidFill>
                        </a:rPr>
                        <a:t>64,013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033"/>
                          </a:solidFill>
                        </a:rPr>
                        <a:t>64,828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A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3"/>
                          </a:solidFill>
                        </a:rPr>
                        <a:t>64,366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D1C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Regular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3"/>
                          </a:solidFill>
                        </a:rPr>
                        <a:t>64,252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D7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3"/>
                          </a:solidFill>
                        </a:rPr>
                        <a:t>64,149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C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3"/>
                          </a:solidFill>
                        </a:rPr>
                        <a:t>64,456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CCC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429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Best: Premium aged 30–45, only ≈ 2% above the lowest cell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Return rate %: shipping × delivery time</a:t>
            </a:r>
            <a:endParaRPr lang="en-US" sz="1600" dirty="0"/>
          </a:p>
        </p:txBody>
      </p:sp>
      <p:graphicFrame>
        <p:nvGraphicFramePr>
          <p:cNvPr id="23" name="Shipping by delivery retur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6304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1–3 days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4–6 days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7–10 days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Express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3"/>
                          </a:solidFill>
                        </a:rPr>
                        <a:t>14.84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3"/>
                          </a:solidFill>
                        </a:rPr>
                        <a:t>14.68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3"/>
                          </a:solidFill>
                        </a:rPr>
                        <a:t>15.14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Standard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3"/>
                          </a:solidFill>
                        </a:rPr>
                        <a:t>14.77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3"/>
                          </a:solidFill>
                        </a:rPr>
                        <a:t>14.54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033"/>
                          </a:solidFill>
                        </a:rPr>
                        <a:t>14.79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E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663440" y="28803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All cells ≈ overall 14.8%; chi-square p = 0.43. Longer delivery does not raise returns</a:t>
            </a:r>
            <a:endParaRPr lang="en-US" sz="1400" dirty="0"/>
          </a:p>
        </p:txBody>
      </p:sp>
      <p:sp>
        <p:nvSpPr>
          <p:cNvPr id="9" name="Takeaway card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Segment, age, shipping and delivery time have very little effect on spending or returns in this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Skewness and Kurtosis</a:t>
            </a:r>
            <a:endParaRPr lang="en-US" sz="3000" dirty="0"/>
          </a:p>
        </p:txBody>
      </p:sp>
      <p:sp>
        <p:nvSpPr>
          <p:cNvPr id="3" name="Skew kurtosis chart card"/>
          <p:cNvSpPr/>
          <p:nvPr/>
        </p:nvSpPr>
        <p:spPr>
          <a:xfrm>
            <a:off x="457200" y="1097280"/>
            <a:ext cx="512064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kew insight"/>
          <p:cNvSpPr/>
          <p:nvPr/>
        </p:nvSpPr>
        <p:spPr>
          <a:xfrm>
            <a:off x="5760720" y="1097280"/>
            <a:ext cx="2926080" cy="164592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97880" y="109728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Skewness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Only final_price is right-skewed (+0.93): a few large orders pull the mean up</a:t>
            </a:r>
            <a:endParaRPr lang="en-US" sz="1400" dirty="0"/>
          </a:p>
        </p:txBody>
      </p:sp>
      <p:sp>
        <p:nvSpPr>
          <p:cNvPr id="7" name="Kurtosis insight"/>
          <p:cNvSpPr/>
          <p:nvPr/>
        </p:nvSpPr>
        <p:spPr>
          <a:xfrm>
            <a:off x="5760720" y="2880360"/>
            <a:ext cx="2926080" cy="178308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97880" y="2880360"/>
            <a:ext cx="2651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Kurtosis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final_price is near-normal (0.17); the rest are flat at about −1.2, with no heavy tails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Key Statistical Findings</a:t>
            </a:r>
            <a:endParaRPr lang="en-US" sz="3000" dirty="0"/>
          </a:p>
        </p:txBody>
      </p:sp>
      <p:sp>
        <p:nvSpPr>
          <p:cNvPr id="3" name="Finding card 1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inding 1 circle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Finding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058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Right-skewed revenue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12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Mean 64.2k vs median 49.8k</a:t>
            </a:r>
            <a:endParaRPr lang="en-US" sz="1200" dirty="0"/>
          </a:p>
        </p:txBody>
      </p:sp>
      <p:sp>
        <p:nvSpPr>
          <p:cNvPr id="8" name="Finding card 2"/>
          <p:cNvSpPr/>
          <p:nvPr/>
        </p:nvSpPr>
        <p:spPr>
          <a:xfrm>
            <a:off x="3246120" y="1097280"/>
            <a:ext cx="26517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inding 2 circle"/>
          <p:cNvSpPr/>
          <p:nvPr/>
        </p:nvSpPr>
        <p:spPr>
          <a:xfrm>
            <a:off x="3429000" y="1280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Finding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14058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Top 20% of orders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212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generate 45.5% of revenue</a:t>
            </a:r>
            <a:endParaRPr lang="en-US" sz="1200" dirty="0"/>
          </a:p>
        </p:txBody>
      </p:sp>
      <p:sp>
        <p:nvSpPr>
          <p:cNvPr id="13" name="Finding card 3"/>
          <p:cNvSpPr/>
          <p:nvPr/>
        </p:nvSpPr>
        <p:spPr>
          <a:xfrm>
            <a:off x="6035040" y="1097280"/>
            <a:ext cx="26517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inding 3 circle"/>
          <p:cNvSpPr/>
          <p:nvPr/>
        </p:nvSpPr>
        <p:spPr>
          <a:xfrm>
            <a:off x="6217920" y="12801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Finding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4058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Revenue drivers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212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Price r = 0.73, quantity r = 0.58</a:t>
            </a:r>
            <a:endParaRPr lang="en-US" sz="1200" dirty="0"/>
          </a:p>
        </p:txBody>
      </p:sp>
      <p:sp>
        <p:nvSpPr>
          <p:cNvPr id="18" name="Finding card 4"/>
          <p:cNvSpPr/>
          <p:nvPr/>
        </p:nvSpPr>
        <p:spPr>
          <a:xfrm>
            <a:off x="45720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inding 4 circle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Image 3" descr="Finding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18897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Discounts cut revenue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995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Low-discount band earns the most (2.55B)</a:t>
            </a:r>
            <a:endParaRPr lang="en-US" sz="1200" dirty="0"/>
          </a:p>
        </p:txBody>
      </p:sp>
      <p:sp>
        <p:nvSpPr>
          <p:cNvPr id="23" name="Finding card 5"/>
          <p:cNvSpPr/>
          <p:nvPr/>
        </p:nvSpPr>
        <p:spPr>
          <a:xfrm>
            <a:off x="324612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inding 5 circle"/>
          <p:cNvSpPr/>
          <p:nvPr/>
        </p:nvSpPr>
        <p:spPr>
          <a:xfrm>
            <a:off x="3429000" y="306324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Image 4" descr="Finding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4730" y="318897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2900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Returns: 14.8%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995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Same across category, shipping, delivery time</a:t>
            </a:r>
            <a:endParaRPr lang="en-US" sz="1200" dirty="0"/>
          </a:p>
        </p:txBody>
      </p:sp>
      <p:sp>
        <p:nvSpPr>
          <p:cNvPr id="28" name="Finding card 6"/>
          <p:cNvSpPr/>
          <p:nvPr/>
        </p:nvSpPr>
        <p:spPr>
          <a:xfrm>
            <a:off x="603504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Finding 6 circle"/>
          <p:cNvSpPr/>
          <p:nvPr/>
        </p:nvSpPr>
        <p:spPr>
          <a:xfrm>
            <a:off x="6217920" y="30632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mage 5" descr="Finding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650" y="318897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179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1,335 outliers kept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995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Valid 4-unit premium and bulk orders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Expected Insights vs What the Data Shows</a:t>
            </a:r>
            <a:endParaRPr lang="en-US" sz="3000" dirty="0"/>
          </a:p>
        </p:txBody>
      </p:sp>
      <p:graphicFrame>
        <p:nvGraphicFramePr>
          <p:cNvPr id="15" name="Brief vs observe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017520"/>
                <a:gridCol w="164592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Expected insight (project brief)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Observed in data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Discount uniform over 0–30%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Uniform, mean 15%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Confirmed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5F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Return rate about 15%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14.8%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Confirmed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5F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Price and quantity drive final_price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r = 0.73 and 0.58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Confirmed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5F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Age vs spending is weak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r ≈ 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Confirmed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5F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Premium aged 30–45 spend most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Top cell, only +2% (p = 0.19)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Marginal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product_price is positively skewed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Skew ≈ 0 (final_price is +0.93)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Not supported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E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Regular / Electronics lead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All groups balanced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Not supported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E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Express cuts delivery days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5.50 vs 5.51 days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Not supported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E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Longer delivery raises returns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3"/>
                          </a:solidFill>
                        </a:rPr>
                        <a:t>No effect (p = 0.43)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033"/>
                          </a:solidFill>
                        </a:rPr>
                        <a:t>Not supported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E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Technique pill 1"/>
          <p:cNvSpPr/>
          <p:nvPr/>
        </p:nvSpPr>
        <p:spPr>
          <a:xfrm>
            <a:off x="548640" y="1280160"/>
            <a:ext cx="251460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Univariate</a:t>
            </a:r>
            <a:endParaRPr lang="en-US" sz="1600" dirty="0"/>
          </a:p>
        </p:txBody>
      </p:sp>
      <p:sp>
        <p:nvSpPr>
          <p:cNvPr id="5" name="Technique pill 2"/>
          <p:cNvSpPr/>
          <p:nvPr/>
        </p:nvSpPr>
        <p:spPr>
          <a:xfrm>
            <a:off x="3246120" y="1280160"/>
            <a:ext cx="251460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46120" y="12801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Bivariate</a:t>
            </a:r>
            <a:endParaRPr lang="en-US" sz="1600" dirty="0"/>
          </a:p>
        </p:txBody>
      </p:sp>
      <p:sp>
        <p:nvSpPr>
          <p:cNvPr id="7" name="Technique pill 3"/>
          <p:cNvSpPr/>
          <p:nvPr/>
        </p:nvSpPr>
        <p:spPr>
          <a:xfrm>
            <a:off x="5943600" y="1280160"/>
            <a:ext cx="2514600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0" y="12801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Multivariate</a:t>
            </a:r>
            <a:endParaRPr lang="en-US" sz="1600" dirty="0"/>
          </a:p>
        </p:txBody>
      </p:sp>
      <p:sp>
        <p:nvSpPr>
          <p:cNvPr id="9" name="Technique pill 4"/>
          <p:cNvSpPr/>
          <p:nvPr/>
        </p:nvSpPr>
        <p:spPr>
          <a:xfrm>
            <a:off x="548640" y="1965960"/>
            <a:ext cx="2514600" cy="502920"/>
          </a:xfrm>
          <a:prstGeom prst="roundRect">
            <a:avLst>
              <a:gd name="adj" fmla="val 490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965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Correlation</a:t>
            </a:r>
            <a:endParaRPr lang="en-US" sz="1600" dirty="0"/>
          </a:p>
        </p:txBody>
      </p:sp>
      <p:sp>
        <p:nvSpPr>
          <p:cNvPr id="11" name="Technique pill 5"/>
          <p:cNvSpPr/>
          <p:nvPr/>
        </p:nvSpPr>
        <p:spPr>
          <a:xfrm>
            <a:off x="3246120" y="1965960"/>
            <a:ext cx="2514600" cy="502920"/>
          </a:xfrm>
          <a:prstGeom prst="roundRect">
            <a:avLst>
              <a:gd name="adj" fmla="val 4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46120" y="1965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Outliers</a:t>
            </a:r>
            <a:endParaRPr lang="en-US" sz="1600" dirty="0"/>
          </a:p>
        </p:txBody>
      </p:sp>
      <p:sp>
        <p:nvSpPr>
          <p:cNvPr id="13" name="Technique pill 6"/>
          <p:cNvSpPr/>
          <p:nvPr/>
        </p:nvSpPr>
        <p:spPr>
          <a:xfrm>
            <a:off x="5943600" y="1965960"/>
            <a:ext cx="2514600" cy="502920"/>
          </a:xfrm>
          <a:prstGeom prst="roundRect">
            <a:avLst>
              <a:gd name="adj" fmla="val 4909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0" y="1965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Skewness &amp; Kurtosis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788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Revenue is right-skewed and driven by price and quantity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Returns are about 15% and independent of category, shipping and delivery time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Express shipping gives no speed advantage: worth investigating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 solid base for predictive modelling and business decisions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60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Thank you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Roshan Kumar  |  NextHikes IT Solutions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ail Carnival">
  <a:themeElements>
    <a:clrScheme name="Retail Carnival">
      <a:dk1>
        <a:srgbClr val="1B1033"/>
      </a:dk1>
      <a:lt1>
        <a:srgbClr val="FFFFFF"/>
      </a:lt1>
      <a:dk2>
        <a:srgbClr val="3B1E6E"/>
      </a:dk2>
      <a:lt2>
        <a:srgbClr val="F4EEFF"/>
      </a:lt2>
      <a:accent1>
        <a:srgbClr val="7C3AED"/>
      </a:accent1>
      <a:accent2>
        <a:srgbClr val="FF4D8D"/>
      </a:accent2>
      <a:accent3>
        <a:srgbClr val="00B8A9"/>
      </a:accent3>
      <a:accent4>
        <a:srgbClr val="FFB703"/>
      </a:accent4>
      <a:accent5>
        <a:srgbClr val="2D9CDB"/>
      </a:accent5>
      <a:accent6>
        <a:srgbClr val="FF7A45"/>
      </a:accent6>
      <a:hlink>
        <a:srgbClr val="7C3AED"/>
      </a:hlink>
      <a:folHlink>
        <a:srgbClr val="3B1E6E"/>
      </a:folHlink>
    </a:clrScheme>
    <a:fontScheme name="Retail Carniv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NextHikes IT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of Large-Scale Retail Transaction Data</dc:title>
  <dc:subject>PptxGenJS Presentation</dc:subject>
  <dc:creator>Roshan Kumar</dc:creator>
  <cp:lastModifiedBy>Roshan Kumar</cp:lastModifiedBy>
  <cp:revision>1</cp:revision>
  <dcterms:created xsi:type="dcterms:W3CDTF">2026-10-20T11:46:26Z</dcterms:created>
  <dcterms:modified xsi:type="dcterms:W3CDTF">2026-10-20T11:46:26Z</dcterms:modified>
</cp:coreProperties>
</file>